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-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a Andrade" userId="a07c90fdb942299d" providerId="LiveId" clId="{F56B8A5C-3915-4CBB-9172-237BEB770F5E}"/>
    <pc:docChg chg="custSel modSld">
      <pc:chgData name="Bruna Andrade" userId="a07c90fdb942299d" providerId="LiveId" clId="{F56B8A5C-3915-4CBB-9172-237BEB770F5E}" dt="2026-07-12T15:24:04.554" v="109" actId="1035"/>
      <pc:docMkLst>
        <pc:docMk/>
      </pc:docMkLst>
      <pc:sldChg chg="modSp mod">
        <pc:chgData name="Bruna Andrade" userId="a07c90fdb942299d" providerId="LiveId" clId="{F56B8A5C-3915-4CBB-9172-237BEB770F5E}" dt="2026-07-12T15:24:04.554" v="109" actId="1035"/>
        <pc:sldMkLst>
          <pc:docMk/>
          <pc:sldMk cId="0" sldId="256"/>
        </pc:sldMkLst>
        <pc:spChg chg="mod">
          <ac:chgData name="Bruna Andrade" userId="a07c90fdb942299d" providerId="LiveId" clId="{F56B8A5C-3915-4CBB-9172-237BEB770F5E}" dt="2026-07-12T15:24:04.554" v="109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Bruna Andrade" userId="a07c90fdb942299d" providerId="LiveId" clId="{F56B8A5C-3915-4CBB-9172-237BEB770F5E}" dt="2026-07-12T15:23:51.925" v="32" actId="1036"/>
          <ac:spMkLst>
            <pc:docMk/>
            <pc:sldMk cId="0" sldId="25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458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 do Tech Challenge de Fase 2 — classificação de qualidade de vinhos com Machine Learning, e o grupo responsável.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problema de negócio: avaliação de vinhos por enólogos é cara, lenta e subjetiva. É o ponto de partida do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solução proposta: um modelo de machine learning que usa apenas indicadores químicos para prever se um vinho é Premium, padronizando a qualidade e reduzindo custo de triagem.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em linguagem simples as quatro etapas do projeto: análise exploratória, pré-processamento, modelagem e avaliação. Dá senso de rigor metodológico sem entrar em jargão técnico.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 o tamanho e o desbalanceamento da base: 1.143 vinhos analisados, apenas 14% classificados como Premium. Isso justifica o uso de técnicas de balanceamento (SMOTE) no treino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por que o corte em nota 7 faz sentido: a grande maioria dos vinhos tem nota 5 ou 6, e poucos alcançam 7 ou mais — daí o desbalanceamento.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visão geral da distribuição de todas as variáveis físico-químicas medidas na base — contexto antes de aprofundar nos direcionadores específicos.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os três principais achados da análise exploratória: teor alcoólico e sulfatos são indicadores positivos de qualidade, acidez volátil é o maior indicador negativo. Mostrar a matriz de correlação real como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boxplots reais confirmando os três direcionadores: teor alcoólico sobe com a qualidade, acidez volátil cai com a qualidade, sulfatos sobem com a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próprio modelo Random Forest confirma os insights da EDA: álcool, sulfatos e acidez volátil são as variáveis mais decisivas para prever a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Regressão Logística e Random Forest; Random Forest é o mais robusto. Explicar o impacto de negócio: separar o lote premium para vender por valor de mercado maior, automatizando o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agradecer e apresentar o grupo responsável pelo Tech Challenge de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752924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B99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PÓS-TECH DATA ANALYTICS · FIAP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299024"/>
            <a:ext cx="14716125" cy="217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581"/>
              </a:lnSpc>
              <a:buNone/>
            </a:pPr>
            <a:r>
              <a:rPr lang="en-US" sz="81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da Qualidade de Vinhos com Machine Learning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047750" y="6778365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B8A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Challenge — Fase 2 · Apresentação Executiva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7750" y="8046948"/>
            <a:ext cx="1738809" cy="552450"/>
          </a:xfrm>
          <a:prstGeom prst="roundRect">
            <a:avLst>
              <a:gd name="adj" fmla="val 50000"/>
            </a:avLst>
          </a:prstGeom>
          <a:ln w="6350">
            <a:solidFill>
              <a:srgbClr val="5E5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01750" y="8186648"/>
            <a:ext cx="130700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6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Arthur Lima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2938959" y="8046948"/>
            <a:ext cx="2096790" cy="552450"/>
          </a:xfrm>
          <a:prstGeom prst="roundRect">
            <a:avLst>
              <a:gd name="adj" fmla="val 50000"/>
            </a:avLst>
          </a:prstGeom>
          <a:ln w="6350">
            <a:solidFill>
              <a:srgbClr val="5E5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192959" y="8186648"/>
            <a:ext cx="166499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6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Bruna Andrade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188148" y="8046948"/>
            <a:ext cx="2903835" cy="552450"/>
          </a:xfrm>
          <a:prstGeom prst="roundRect">
            <a:avLst>
              <a:gd name="adj" fmla="val 50000"/>
            </a:avLst>
          </a:prstGeom>
          <a:ln w="6350">
            <a:solidFill>
              <a:srgbClr val="5E5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42148" y="8186648"/>
            <a:ext cx="2482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6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Luiz Cesar dos Santos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8244384" y="8046948"/>
            <a:ext cx="2176165" cy="552450"/>
          </a:xfrm>
          <a:prstGeom prst="roundRect">
            <a:avLst>
              <a:gd name="adj" fmla="val 50000"/>
            </a:avLst>
          </a:prstGeom>
          <a:ln w="6350">
            <a:solidFill>
              <a:srgbClr val="5E5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498384" y="8186648"/>
            <a:ext cx="174436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6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Renato Naddeo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572949" y="8046948"/>
            <a:ext cx="2321421" cy="552450"/>
          </a:xfrm>
          <a:prstGeom prst="roundRect">
            <a:avLst>
              <a:gd name="adj" fmla="val 50000"/>
            </a:avLst>
          </a:prstGeom>
          <a:ln w="6350">
            <a:solidFill>
              <a:srgbClr val="5E5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826949" y="8186648"/>
            <a:ext cx="188962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D6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Keisy Magalhães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DE NEGÓCIO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362075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da Avaliação Manual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600920"/>
            <a:ext cx="651117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a qualidade de um vinho é definida por enólogos em análises sensoriais — aroma, sabor, acidez e equilíbrio.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4115395"/>
            <a:ext cx="6086651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processo valioso, mas que depende inteiramente da experiência de cada avaliador.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248650" y="2550121"/>
            <a:ext cx="8991600" cy="1104900"/>
          </a:xfrm>
          <a:prstGeom prst="roundRect">
            <a:avLst>
              <a:gd name="adj" fmla="val 13793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597900" y="2861270"/>
            <a:ext cx="7429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31350" y="2966045"/>
            <a:ext cx="781959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</a:t>
            </a: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</a:t>
            </a: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dependente de especialistas altamente qualificados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8248650" y="3902671"/>
            <a:ext cx="8991600" cy="1181100"/>
          </a:xfrm>
          <a:prstGeom prst="roundRect">
            <a:avLst>
              <a:gd name="adj" fmla="val 12903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597900" y="4213820"/>
            <a:ext cx="74295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531350" y="4356695"/>
            <a:ext cx="762980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Demorado</a:t>
            </a: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que atrasa decisões de produção e comercialização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8248650" y="5331421"/>
            <a:ext cx="8991600" cy="1104900"/>
          </a:xfrm>
          <a:prstGeom prst="roundRect">
            <a:avLst>
              <a:gd name="adj" fmla="val 13793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97900" y="5642571"/>
            <a:ext cx="74295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531350" y="5747346"/>
            <a:ext cx="546063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Subjetivo</a:t>
            </a: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variando de avaliador para avaliador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OBJETIVO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3735050" cy="1379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Inteligência para Identificar Vinhos Premium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3030141"/>
            <a:ext cx="1177290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Criamos um modelo capaz de reconhecer automaticamente vinhos de </a:t>
            </a:r>
            <a:r>
              <a:rPr lang="en-US" sz="225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Performance </a:t>
            </a: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usando apenas indicadores químicos já coletados na produção — sem depender de degustação.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5039916"/>
            <a:ext cx="4563467" cy="2419350"/>
          </a:xfrm>
          <a:prstGeom prst="roundRect">
            <a:avLst>
              <a:gd name="adj" fmla="val 7874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03752" y="5465366"/>
            <a:ext cx="425146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19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03752" y="5916216"/>
            <a:ext cx="42514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Químicos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39026" y="6487716"/>
            <a:ext cx="3980916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Álcool, acidez, densidade, sulfatos…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5992217" y="5960666"/>
            <a:ext cx="62103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6868517" y="5182791"/>
            <a:ext cx="4550866" cy="2133600"/>
          </a:xfrm>
          <a:prstGeom prst="roundRect">
            <a:avLst>
              <a:gd name="adj" fmla="val 8929"/>
            </a:avLst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018164" y="5601891"/>
            <a:ext cx="42515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195" dirty="0">
                <a:solidFill>
                  <a:srgbClr val="E1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018164" y="6052741"/>
            <a:ext cx="42515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18164" y="6624241"/>
            <a:ext cx="425157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E1C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binária automatizada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800384" y="5960666"/>
            <a:ext cx="62103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12676684" y="5039916"/>
            <a:ext cx="4563567" cy="2419350"/>
          </a:xfrm>
          <a:prstGeom prst="roundRect">
            <a:avLst>
              <a:gd name="adj" fmla="val 7874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832681" y="5465366"/>
            <a:ext cx="42515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19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832681" y="5916216"/>
            <a:ext cx="42515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ou Normal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967958" y="6487716"/>
            <a:ext cx="3981018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 a qualidade, reduz custo de triagem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Construímos a Solução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893021"/>
            <a:ext cx="723900" cy="723900"/>
          </a:xfrm>
          <a:prstGeom prst="ellipse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9650" y="2893021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3845521"/>
            <a:ext cx="331603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4950421"/>
            <a:ext cx="331603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Investigamos a distribuição, as correlações e o desbalanceamento entre vinhos Premium e Normais.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4572000" y="3254971"/>
            <a:ext cx="495300" cy="19050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372100" y="2893021"/>
            <a:ext cx="723900" cy="723900"/>
          </a:xfrm>
          <a:prstGeom prst="ellipse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334000" y="2893021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72100" y="3845521"/>
            <a:ext cx="331603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72100" y="4950421"/>
            <a:ext cx="331603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Padronizamos os indicadores químicos e balanceamos a base de treino para o modelo aprender de forma justa.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8896350" y="3254971"/>
            <a:ext cx="495300" cy="19050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9696450" y="2893021"/>
            <a:ext cx="723900" cy="723900"/>
          </a:xfrm>
          <a:prstGeom prst="ellipse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658350" y="2893021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96450" y="3845521"/>
            <a:ext cx="35413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696450" y="4512271"/>
            <a:ext cx="3316034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Treinamos dois algoritmos de classificação — Regressão Logística e Random Forest — para comparar desempenho.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3220700" y="3254971"/>
            <a:ext cx="495300" cy="19050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4020800" y="2893021"/>
            <a:ext cx="723900" cy="723900"/>
          </a:xfrm>
          <a:prstGeom prst="ellipse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982700" y="2893021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020800" y="3845521"/>
            <a:ext cx="354139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020800" y="4512271"/>
            <a:ext cx="3316034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Medimos acurácia, precisão e recall para escolher o modelo mais confiável para o negócio.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DE DADOS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Vinhos Premium São Minoria no Mercado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26321"/>
            <a:ext cx="7988300" cy="787400"/>
          </a:xfrm>
          <a:prstGeom prst="roundRect">
            <a:avLst>
              <a:gd name="adj" fmla="val 19355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358900" y="2880320"/>
            <a:ext cx="978198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&lt; 7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470448" y="2883496"/>
            <a:ext cx="490205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 de </a:t>
            </a: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Baixa/Média Qualidade </a:t>
            </a: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(Normal)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264650" y="2626321"/>
            <a:ext cx="7975600" cy="787400"/>
          </a:xfrm>
          <a:prstGeom prst="roundRect">
            <a:avLst>
              <a:gd name="adj" fmla="val 19355"/>
            </a:avLst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69450" y="2880320"/>
            <a:ext cx="969466" cy="317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≥ 7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672267" y="2883496"/>
            <a:ext cx="411580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 de </a:t>
            </a:r>
            <a:r>
              <a:rPr lang="en-US" sz="1875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Qualidade </a:t>
            </a:r>
            <a:r>
              <a:rPr lang="en-US" sz="1875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(Premium)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47750" y="5697835"/>
            <a:ext cx="727433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77"/>
              </a:lnSpc>
              <a:buNone/>
            </a:pPr>
            <a:r>
              <a:rPr lang="en-US" sz="10500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1.143</a:t>
            </a:r>
            <a:endParaRPr lang="en-US" sz="10500" dirty="0"/>
          </a:p>
        </p:txBody>
      </p:sp>
      <p:sp>
        <p:nvSpPr>
          <p:cNvPr id="11" name="Text 9"/>
          <p:cNvSpPr/>
          <p:nvPr/>
        </p:nvSpPr>
        <p:spPr>
          <a:xfrm>
            <a:off x="1047750" y="7126585"/>
            <a:ext cx="727433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amostras de vinho analisadas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22779" y="5227936"/>
            <a:ext cx="7443192" cy="609600"/>
          </a:xfrm>
          <a:prstGeom prst="rect">
            <a:avLst/>
          </a:prstGeom>
          <a:solidFill>
            <a:srgbClr val="5145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651379" y="5227936"/>
            <a:ext cx="743788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5865971" y="5227936"/>
            <a:ext cx="1374279" cy="609600"/>
          </a:xfrm>
          <a:prstGeom prst="rect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5827871" y="5227936"/>
            <a:ext cx="145047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8422779" y="6078835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5145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765679" y="6047086"/>
            <a:ext cx="231487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vinhos Normais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1251109" y="6078835"/>
            <a:ext cx="209550" cy="209550"/>
          </a:xfrm>
          <a:prstGeom prst="roundRect">
            <a:avLst>
              <a:gd name="adj" fmla="val 22727"/>
            </a:avLst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594009" y="6047086"/>
            <a:ext cx="238767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 vinhos Premium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422779" y="6605885"/>
            <a:ext cx="804481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814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forte desbalanceamento reflete a realidade do mercado — vinhos verdadeiramente excepcionais são raros. Para o modelo aprender a reconhecê-los igualmente bem, a base de treino foi balanceada com a técnica SMOTE.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DE DADOS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Maioria dos Vinhos Fica na Média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947863" y="3003848"/>
            <a:ext cx="7366000" cy="5934075"/>
          </a:xfrm>
          <a:prstGeom prst="roundRect">
            <a:avLst>
              <a:gd name="adj" fmla="val 2568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863" y="3003848"/>
            <a:ext cx="7366000" cy="5934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47474" y="4732635"/>
            <a:ext cx="6687559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notas se concentram em </a:t>
            </a:r>
            <a:r>
              <a:rPr lang="en-US" sz="225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 6 </a:t>
            </a: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Poucos vinhos atingem nota </a:t>
            </a:r>
            <a:r>
              <a:rPr lang="en-US" sz="225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ou mais </a:t>
            </a: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corte que define a categoria Premium.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747474" y="6209011"/>
            <a:ext cx="6687559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concentração explica o desbalanceamento das classes e reforça por que um vinho de alta qualidade é, de fato, uma exceção no mercado.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das Variáveis Físico-Químicas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45320"/>
            <a:ext cx="127539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08"/>
              </a:lnSpc>
              <a:buNone/>
            </a:pPr>
            <a:r>
              <a:rPr lang="en-US" sz="2250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 indicadores físico-químicos foram medidos em cada amostra — a base para todo o restante da análise.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841500" y="3369271"/>
            <a:ext cx="14605000" cy="641350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0686" r="-30686"/>
          <a:stretch/>
        </p:blipFill>
        <p:spPr>
          <a:xfrm>
            <a:off x="1841500" y="3369271"/>
            <a:ext cx="14605000" cy="641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DA ANÁLISE EXPLORATÓRIA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Direcionadores da Qualidade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84760"/>
            <a:ext cx="7283351" cy="1806575"/>
          </a:xfrm>
          <a:prstGeom prst="roundRect">
            <a:avLst>
              <a:gd name="adj" fmla="val 8436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47750" y="4484985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47750" y="2684760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047750" y="2684760"/>
            <a:ext cx="76200" cy="1806575"/>
          </a:xfrm>
          <a:prstGeom prst="rect">
            <a:avLst/>
          </a:prstGeom>
          <a:solidFill>
            <a:srgbClr val="B990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8324751" y="2684760"/>
            <a:ext cx="9525" cy="180657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409700" y="2862560"/>
            <a:ext cx="72922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POSITIVO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09700" y="3199110"/>
            <a:ext cx="72922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 Alcoólico é o rei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09700" y="3694410"/>
            <a:ext cx="682818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Vinhos de alta qualidade têm, historicamente, teor alcoólico mais elevado.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047750" y="4643735"/>
            <a:ext cx="7283351" cy="1768475"/>
          </a:xfrm>
          <a:prstGeom prst="roundRect">
            <a:avLst>
              <a:gd name="adj" fmla="val 8618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047750" y="6405860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047750" y="4643735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047750" y="4643735"/>
            <a:ext cx="76200" cy="1768475"/>
          </a:xfrm>
          <a:prstGeom prst="rect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324751" y="4643735"/>
            <a:ext cx="9525" cy="176847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409700" y="4802485"/>
            <a:ext cx="72922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NEGATIVO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09700" y="5139035"/>
            <a:ext cx="72922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Acidez Volátil é o vilão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09700" y="5634335"/>
            <a:ext cx="682818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maior a acidez volátil — gosto de vinagre — pior tende a ser a nota do vinho.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47750" y="6564610"/>
            <a:ext cx="7283351" cy="1768475"/>
          </a:xfrm>
          <a:prstGeom prst="roundRect">
            <a:avLst>
              <a:gd name="adj" fmla="val 8618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47750" y="8326735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047750" y="6564610"/>
            <a:ext cx="7283351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047750" y="6564610"/>
            <a:ext cx="76200" cy="1768475"/>
          </a:xfrm>
          <a:prstGeom prst="rect">
            <a:avLst/>
          </a:prstGeom>
          <a:solidFill>
            <a:srgbClr val="5145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324751" y="6564610"/>
            <a:ext cx="9525" cy="176847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409700" y="6723361"/>
            <a:ext cx="72922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156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DE APOIO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409700" y="7059910"/>
            <a:ext cx="729223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Sulfatos ajudam a qualidade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09700" y="7555210"/>
            <a:ext cx="682818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mais altos de sulfatos também estão associados a vinhos melhor avaliados.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47750" y="8485486"/>
            <a:ext cx="750185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Recomendação: </a:t>
            </a: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rigorosamente a fermentação para mitigar a acidez volátil e equilibrar álcool e sulfatos.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750326" y="2376785"/>
            <a:ext cx="6604000" cy="5216525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326" y="2376785"/>
            <a:ext cx="6604000" cy="521652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520456" y="7745710"/>
            <a:ext cx="7063740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209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célula mostra o quanto duas variáveis se movem juntas, de </a:t>
            </a: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</a:t>
            </a: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(relação inversa forte) a </a:t>
            </a: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</a:t>
            </a: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(relação direta forte). A linha/coluna </a:t>
            </a:r>
            <a:r>
              <a:rPr lang="en-US" sz="1875" i="1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a relação de cada variável com a nota do vinho — e confirma álcool, sulfatos e acidez volátil como os fatores mais fortes.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 VISUAL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Direcionadores, Vinho a Vinho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27100" y="3529013"/>
            <a:ext cx="5435600" cy="4439146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3529013"/>
            <a:ext cx="5435600" cy="44391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10854" y="8101509"/>
            <a:ext cx="381490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 Alcoólico ↑ com a qualidade</a:t>
            </a:r>
            <a:endParaRPr lang="en-US" sz="1875" dirty="0"/>
          </a:p>
        </p:txBody>
      </p:sp>
      <p:sp>
        <p:nvSpPr>
          <p:cNvPr id="7" name="Shape 4"/>
          <p:cNvSpPr/>
          <p:nvPr/>
        </p:nvSpPr>
        <p:spPr>
          <a:xfrm>
            <a:off x="6426200" y="3543895"/>
            <a:ext cx="5435600" cy="440948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3543895"/>
            <a:ext cx="5435600" cy="4409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36346" y="8086725"/>
            <a:ext cx="375673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Acidez Volátil ↓ com a qualidade</a:t>
            </a:r>
            <a:endParaRPr lang="en-US" sz="1875" dirty="0"/>
          </a:p>
        </p:txBody>
      </p:sp>
      <p:sp>
        <p:nvSpPr>
          <p:cNvPr id="10" name="Shape 6"/>
          <p:cNvSpPr/>
          <p:nvPr/>
        </p:nvSpPr>
        <p:spPr>
          <a:xfrm>
            <a:off x="11925300" y="3576439"/>
            <a:ext cx="5435600" cy="4344392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5300" y="3576439"/>
            <a:ext cx="5435600" cy="43443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13457" y="8054182"/>
            <a:ext cx="314521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Sulfatos ↑ com a qualidade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MODELO APRENDEU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3735050" cy="1379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Random Forest Confirma o Que os Dados Já Diziam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01676" y="4117181"/>
            <a:ext cx="7556500" cy="4454029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676" y="4117181"/>
            <a:ext cx="7556500" cy="44540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45502" y="3591520"/>
            <a:ext cx="7194749" cy="1546225"/>
          </a:xfrm>
          <a:prstGeom prst="roundRect">
            <a:avLst>
              <a:gd name="adj" fmla="val 9856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0045502" y="5131395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10045502" y="3591520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10045502" y="3591520"/>
            <a:ext cx="76200" cy="1546225"/>
          </a:xfrm>
          <a:prstGeom prst="rect">
            <a:avLst/>
          </a:prstGeom>
          <a:solidFill>
            <a:srgbClr val="B990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7233901" y="3591520"/>
            <a:ext cx="9525" cy="15462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407452" y="3807421"/>
            <a:ext cx="71947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Teor Alcoólico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10407452" y="4302721"/>
            <a:ext cx="673691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variável mais decisiva — reforça o achado da análise exploratória.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10045502" y="5309196"/>
            <a:ext cx="7194749" cy="1546225"/>
          </a:xfrm>
          <a:prstGeom prst="roundRect">
            <a:avLst>
              <a:gd name="adj" fmla="val 9856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10045502" y="6849071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10045502" y="5309196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10045502" y="5309196"/>
            <a:ext cx="76200" cy="1546225"/>
          </a:xfrm>
          <a:prstGeom prst="rect">
            <a:avLst/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7233901" y="5309196"/>
            <a:ext cx="9525" cy="15462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0407452" y="5525095"/>
            <a:ext cx="71947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2º Sulfatos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0407452" y="6020395"/>
            <a:ext cx="673691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fator mais importante para diferenciar vinhos Premium.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10045502" y="7026871"/>
            <a:ext cx="7194749" cy="1236663"/>
          </a:xfrm>
          <a:prstGeom prst="roundRect">
            <a:avLst>
              <a:gd name="adj" fmla="val 12323"/>
            </a:avLst>
          </a:prstGeom>
          <a:solidFill>
            <a:srgbClr val="FFFB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10045502" y="8257183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10045502" y="7026871"/>
            <a:ext cx="7194749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10045502" y="7026871"/>
            <a:ext cx="76200" cy="1236663"/>
          </a:xfrm>
          <a:prstGeom prst="rect">
            <a:avLst/>
          </a:prstGeom>
          <a:solidFill>
            <a:srgbClr val="5145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17233901" y="7026871"/>
            <a:ext cx="9525" cy="1236663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10407452" y="7242771"/>
            <a:ext cx="71947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3º Acidez Volátil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10407452" y="7738071"/>
            <a:ext cx="71947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372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Confirma-se como o principal fator negativo de qualidade.</a:t>
            </a:r>
            <a:endParaRPr lang="en-US" sz="1875" dirty="0"/>
          </a:p>
        </p:txBody>
      </p:sp>
      <p:sp>
        <p:nvSpPr>
          <p:cNvPr id="27" name="Text 24"/>
          <p:cNvSpPr/>
          <p:nvPr/>
        </p:nvSpPr>
        <p:spPr>
          <a:xfrm>
            <a:off x="10045502" y="8454033"/>
            <a:ext cx="7410591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1875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variáveis mais importantes para o modelo coincidem com os fatores identificados na análise exploratória.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IMPACTO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22400"/>
            <a:ext cx="1466850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é o Modelo Mais Robusto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966046"/>
            <a:ext cx="7829550" cy="19050"/>
          </a:xfrm>
          <a:prstGeom prst="rect">
            <a:avLst/>
          </a:prstGeom>
          <a:solidFill>
            <a:srgbClr val="2019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143000" y="2607271"/>
            <a:ext cx="3238460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395887" y="2607271"/>
            <a:ext cx="2420144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514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Logística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930330" y="2607271"/>
            <a:ext cx="1851720" cy="32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047750" y="3474045"/>
            <a:ext cx="7829550" cy="9525"/>
          </a:xfrm>
          <a:prstGeom prst="rect">
            <a:avLst/>
          </a:prstGeom>
          <a:solidFill>
            <a:srgbClr val="D6CBC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43000" y="3089870"/>
            <a:ext cx="32384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395887" y="3089870"/>
            <a:ext cx="24201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930330" y="3089870"/>
            <a:ext cx="1851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3585170"/>
            <a:ext cx="3238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(vinhos Premium)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395887" y="3585170"/>
            <a:ext cx="24201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0,51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930330" y="3585170"/>
            <a:ext cx="1851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75" b="1" dirty="0">
                <a:solidFill>
                  <a:srgbClr val="62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0,60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47750" y="4175720"/>
            <a:ext cx="7829550" cy="1704975"/>
          </a:xfrm>
          <a:prstGeom prst="roundRect">
            <a:avLst>
              <a:gd name="adj" fmla="val 8939"/>
            </a:avLst>
          </a:prstGeom>
          <a:solidFill>
            <a:srgbClr val="6214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52550" y="4385270"/>
            <a:ext cx="745483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1875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 negócio: </a:t>
            </a:r>
            <a:r>
              <a:rPr lang="en-US" sz="1875" dirty="0">
                <a:solidFill>
                  <a:srgbClr val="F0EAE5"/>
                </a:solidFill>
                <a:highlight>
                  <a:srgbClr val="62141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 modelo permite separar automaticamente o lote premium, direcionando-o a um canal de venda de maior valor de mercado — com mais assertividade e menos dependência de degustação manual.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47750" y="6033096"/>
            <a:ext cx="7829550" cy="1717675"/>
          </a:xfrm>
          <a:prstGeom prst="roundRect">
            <a:avLst>
              <a:gd name="adj" fmla="val 8872"/>
            </a:avLst>
          </a:prstGeom>
          <a:solidFill>
            <a:srgbClr val="FFFBF8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58900" y="6248996"/>
            <a:ext cx="74421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733"/>
              </a:lnSpc>
              <a:buNone/>
            </a:pPr>
            <a:r>
              <a:rPr lang="en-US" sz="1875" dirty="0">
                <a:solidFill>
                  <a:srgbClr val="2019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esse modelo, os produtores podem prever a qualidade do vinho ainda durante o processo produtivo — permitindo ajustes antes que o produto chegue ao consumidor final, reduzindo custos e aumentando a padronização da qualidade.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9261475" y="4499174"/>
            <a:ext cx="8128000" cy="2943424"/>
          </a:xfrm>
          <a:prstGeom prst="roundRect">
            <a:avLst>
              <a:gd name="adj" fmla="val 5178"/>
            </a:avLst>
          </a:prstGeom>
          <a:solidFill>
            <a:srgbClr val="FFFFFF"/>
          </a:solidFill>
          <a:ln w="6350">
            <a:solidFill>
              <a:srgbClr val="D6CBC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475" y="4499174"/>
            <a:ext cx="8128000" cy="2943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4201815"/>
            <a:ext cx="178117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12" dirty="0">
                <a:solidFill>
                  <a:srgbClr val="B99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4747915"/>
            <a:ext cx="13620750" cy="70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800" b="1" dirty="0">
                <a:solidFill>
                  <a:srgbClr val="F0E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Pós-Tech Data Analytics — FIAP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5647036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B8AB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Challenge — Fase 2 · Pós-Tech Data Analytics FIAP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Microsoft Office PowerPoint</Application>
  <PresentationFormat>Personalizar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Bruna Andrade</cp:lastModifiedBy>
  <cp:revision>1</cp:revision>
  <dcterms:created xsi:type="dcterms:W3CDTF">2026-07-12T15:23:16Z</dcterms:created>
  <dcterms:modified xsi:type="dcterms:W3CDTF">2026-07-12T15:24:11Z</dcterms:modified>
</cp:coreProperties>
</file>